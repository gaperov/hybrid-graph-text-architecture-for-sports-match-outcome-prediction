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268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36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GRAPH · TEXT · TABULAR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Graph-Text Architecture for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Sports Match Outcome Prediction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FIFA World Cup outcomes — win / draw / loss — by fusing tabular, textual, and graph signals under a strict leakage-safe protocol.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45262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multimodal study — and what it taught us about graph neural networks on small data.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Cup matches 1994–2022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match prediction is hard — and where models miss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035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prediction matters across machine learning, sports analytics, and betting markets.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models (rankings, form, xG, odds) are informative but blind to context: 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injuries, managerial changes, tactical shifts, travel fatigue, and psychological momentum.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Graph-only models capture relational structure but </a:t>
            </a:r>
            <a:r>
              <a:rPr lang="en-US" sz="1600" b="1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unstructured text</a:t>
            </a:r>
            <a:r>
              <a:rPr lang="en-US" sz="16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exactly where late-breaking signals live.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0" y="1645920"/>
            <a:ext cx="4754880" cy="1783080"/>
          </a:xfrm>
          <a:prstGeom prst="roundRect">
            <a:avLst>
              <a:gd name="adj" fmla="val 4103"/>
            </a:avLst>
          </a:prstGeom>
          <a:solidFill>
            <a:srgbClr val="EEF2F6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86600" y="1828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086600" y="214884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integrating graph neural networks with textual embeddings improve match prediction over graph-only and statistical baselines?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0" y="3657600"/>
            <a:ext cx="4754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86600" y="3794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— 3 classes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086600" y="4206240"/>
            <a:ext cx="411480" cy="4114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43800" y="42062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home_win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67928" y="4206240"/>
            <a:ext cx="411480" cy="41148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4" name="Text 12"/>
          <p:cNvSpPr/>
          <p:nvPr/>
        </p:nvSpPr>
        <p:spPr>
          <a:xfrm>
            <a:off x="8567928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25128" y="42062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49256" y="4206240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10049256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06456" y="42062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away_win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0" y="63825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Positioning: the graph × text gap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489706"/>
              </p:ext>
            </p:extLst>
          </p:nvPr>
        </p:nvGraphicFramePr>
        <p:xfrm>
          <a:off x="548640" y="1645920"/>
          <a:ext cx="11064240" cy="32461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Representative work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acc.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Dixon–Coles Poisson; Elo ratings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≈50–53%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dependency structure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/ tabular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Schauberger &amp; Groll (RF); Dolores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≈53–63%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treated as independent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Francis — bipartite + centrality + random walk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~60% (WC'22)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Hand-crafted graph statistics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+ ML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Beal et al. — ML + expert text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</a:t>
                      </a:r>
                      <a:r>
                        <a:rPr lang="ru-RU" sz="13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3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relational structure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work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graph + text + tabular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r>
                        <a:rPr lang="ru-RU" sz="13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r>
                        <a:rPr lang="en-US" sz="13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r>
                        <a:rPr lang="ru-RU" sz="13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r>
                        <a:rPr lang="en-US" sz="13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Fills the graph × text gap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prior work combines learned graph embeddings with contextual text — this study targets exactly that intersection.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430000" y="63825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consistent World Cup dataset, 1994–2022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EF2F6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6420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34086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modelled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5544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EF2F6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66420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337560" y="234086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5544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EF2F6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66420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105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126480" y="234086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15544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EF2F6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15400" y="166420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5A6B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1992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915400" y="234086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rankings begin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1106424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0" descr="/sessions/eager-inspiring-thompson/mnt/outputs/figs/r_out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166" y="3090672"/>
            <a:ext cx="7439188" cy="236829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advantage is strong overall (55%); restricting to 1994–2022 lifts the draw and away-win share. Draws are the persistent minority class.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430000" y="63825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draws are the hard class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321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/sessions/eager-inspiring-thompson/mnt/outputs/figs/r_pointsdi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134039"/>
            <a:ext cx="5202936" cy="167552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63640" y="160020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1" descr="/sessions/eager-inspiring-thompson/mnt/outputs/figs/r_goals_ups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2209260"/>
            <a:ext cx="5020056" cy="15250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452628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EEF2F6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31520" y="46451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concentrate at zero rank gap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31520" y="4956048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draw density peaks where the two teams have near-equal FIFA points — evenly-matched games are exactly the ambiguous ones.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63640" y="452628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EEF2F6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446520" y="46451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Upsets are common, even late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46520" y="495604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Lower-ranked teams still win 12–22% of matches across every stage — ranking alone cannot separate the classes cleanly.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430000" y="63825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CORE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Leakage-safe design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 — no tournament leakage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24395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40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5420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1994 – 2014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tournaments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210312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24395F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240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25420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2018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80560" y="2926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210312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2439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2240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83880" y="25420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183880" y="2926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leakage columns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9319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home_score · away_score · result · target · home_xg · away_xg · xg · post-match text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0936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timing rule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39319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 articles with  published_at ≤ match_date − 6h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074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metric fixed before seeing test: </a:t>
            </a:r>
            <a:r>
              <a:rPr lang="en-US" sz="15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macro-F1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(3 classes, imbalanced, draws hard). Test evaluated exactly once.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430000" y="63825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F7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input branches, fused into one classifier</a:t>
            </a:r>
            <a:endParaRPr lang="en-US" sz="2800" dirty="0"/>
          </a:p>
        </p:txBody>
      </p:sp>
      <p:pic>
        <p:nvPicPr>
          <p:cNvPr id="5" name="Image 0" descr="/sessions/eager-inspiring-thompson/mnt/outputs/figs/fig_architectu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5603" y="1252728"/>
            <a:ext cx="10698480" cy="3886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0749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</a:t>
            </a:r>
            <a:r>
              <a:rPr lang="en-US" sz="14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ranking · form · history · stage · rest        </a:t>
            </a: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r>
              <a:rPr lang="en-US" sz="14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Guardian → MiniLM 384-d → PCA-64        </a:t>
            </a: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r>
              <a:rPr lang="en-US" sz="14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Team↔Match GNN embeddings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via concatenation (early) or cross-attention; an MLP head produces a softmax over {win, draw, loss}.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430000" y="63825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Leakage-safe contextual embeddings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91540" y="2194560"/>
            <a:ext cx="0" cy="576072"/>
          </a:xfrm>
          <a:prstGeom prst="line">
            <a:avLst/>
          </a:prstGeom>
          <a:noFill/>
          <a:ln w="25400">
            <a:solidFill>
              <a:srgbClr val="D6DE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6733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02082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pre-match articles, ≥6h before kickoff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77063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91540" y="3273552"/>
            <a:ext cx="0" cy="576072"/>
          </a:xfrm>
          <a:prstGeom prst="line">
            <a:avLst/>
          </a:prstGeom>
          <a:noFill/>
          <a:ln w="25400">
            <a:solidFill>
              <a:srgbClr val="D6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275234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309981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sentence-transformers/all-MiniLM-L6-v2 → 384-d, mean-pooled per match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849624"/>
            <a:ext cx="502920" cy="50292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91540" y="4352544"/>
            <a:ext cx="0" cy="576072"/>
          </a:xfrm>
          <a:prstGeom prst="line">
            <a:avLst/>
          </a:prstGeom>
          <a:noFill/>
          <a:ln w="25400">
            <a:solidFill>
              <a:srgbClr val="D6DE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383133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417880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→ 64-d for the GNN, fit on train only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928616"/>
            <a:ext cx="502920" cy="502920"/>
          </a:xfrm>
          <a:prstGeom prst="ellipse">
            <a:avLst/>
          </a:prstGeom>
          <a:solidFill>
            <a:srgbClr val="5A6B7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928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5880" y="49103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missing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5257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vector + explicit availability features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0" y="1783080"/>
            <a:ext cx="4297680" cy="3657600"/>
          </a:xfrm>
          <a:prstGeom prst="roundRect">
            <a:avLst>
              <a:gd name="adj" fmla="val 2000"/>
            </a:avLst>
          </a:prstGeom>
          <a:solidFill>
            <a:srgbClr val="EEF2F6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54380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availability features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543800" y="237744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3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text_available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3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text_count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3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log_text_count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3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guardian_text_flag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3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no_text_flag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3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 timing info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543800" y="42976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384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8778240" y="437083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dims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(→ 32 via PCA)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30000" y="63825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COVERAGE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text exists — and whether it biases classes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/sessions/eager-inspiring-thompson/mnt/outputs/figs/r_text_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01" y="1764792"/>
            <a:ext cx="4933879" cy="3831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Team–Match graph, 2022 · green = article available, red = none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263640" y="160020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1" descr="/sessions/eager-inspiring-thompson/mnt/outputs/figs/r_classba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2209260"/>
            <a:ext cx="5020056" cy="15250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63640" y="45262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EEF2F6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446520" y="46451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is partial but unbiased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46520" y="495604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329 / 500 matches have pre-match text. Class balance is nearly identical for text vs no-text matches — so missing text adds no obvious outcome bias.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430000" y="63825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heterogeneous World Cup graph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/sessions/eager-inspiring-thompson/mnt/outputs/figs/r_hetero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01" y="1764792"/>
            <a:ext cx="4933879" cy="3831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Cup 2022 subgraph — node colour = type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263640" y="1691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types (full graph)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09360" y="2112264"/>
            <a:ext cx="146304" cy="14630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0" y="2039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0" y="20391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09360" y="2496312"/>
            <a:ext cx="146304" cy="14630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0" y="2423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TeamTournament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0" y="2423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309360" y="2880360"/>
            <a:ext cx="146304" cy="146304"/>
          </a:xfrm>
          <a:prstGeom prst="ellipse">
            <a:avLst/>
          </a:prstGeom>
          <a:solidFill>
            <a:srgbClr val="577590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0" y="28072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Stadium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686800" y="28072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309360" y="3264408"/>
            <a:ext cx="146304" cy="14630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8" name="Text 15"/>
          <p:cNvSpPr/>
          <p:nvPr/>
        </p:nvSpPr>
        <p:spPr>
          <a:xfrm>
            <a:off x="6583680" y="31912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686800" y="31912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309360" y="3648456"/>
            <a:ext cx="146304" cy="146304"/>
          </a:xfrm>
          <a:prstGeom prst="ellipse">
            <a:avLst/>
          </a:prstGeom>
          <a:solidFill>
            <a:srgbClr val="43AA8B"/>
          </a:solidFill>
          <a:ln/>
        </p:spPr>
      </p:sp>
      <p:sp>
        <p:nvSpPr>
          <p:cNvPr id="21" name="Text 18"/>
          <p:cNvSpPr/>
          <p:nvPr/>
        </p:nvSpPr>
        <p:spPr>
          <a:xfrm>
            <a:off x="6583680" y="35753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686800" y="3575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309360" y="4032504"/>
            <a:ext cx="146304" cy="146304"/>
          </a:xfrm>
          <a:prstGeom prst="ellipse">
            <a:avLst/>
          </a:prstGeom>
          <a:solidFill>
            <a:srgbClr val="5A6B7B"/>
          </a:solidFill>
          <a:ln/>
        </p:spPr>
      </p:sp>
      <p:sp>
        <p:nvSpPr>
          <p:cNvPr id="24" name="Text 21"/>
          <p:cNvSpPr/>
          <p:nvPr/>
        </p:nvSpPr>
        <p:spPr>
          <a:xfrm>
            <a:off x="6583680" y="39593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686800" y="39593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9966960" y="201168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9966960" y="20848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9966960" y="2578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types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263640" y="45262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types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263640" y="4828032"/>
            <a:ext cx="5349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3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team_played_match · team_played_against_team · team_tournament_played_match · match_belongs_to_tournament · match_played_at_stadium · team_participated_in_tournament · team_has_tournament_instance · referee_officiated_match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1430000" y="63825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→ GNN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GNN actually sees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/sessions/eager-inspiring-thompson/mnt/outputs/figs/r_bipart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01" y="1764792"/>
            <a:ext cx="4933879" cy="3831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Team–Match bipartite, 2022 · blue = match (500), orange = team (70)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263640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GNN keeps only a strict subset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263640" y="2148840"/>
            <a:ext cx="5349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kept:  </a:t>
            </a:r>
            <a:r>
              <a:rPr lang="en-US" sz="13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(70) and match (500) only.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kept:  </a:t>
            </a:r>
            <a:r>
              <a:rPr lang="en-US" sz="13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team→plays→match, match→rev_plays→team, plus an optional team→played_against→team rivalry edge.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from the full graph:  </a:t>
            </a:r>
            <a:r>
              <a:rPr lang="en-US" sz="13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TeamTournament, Stadium, Referee, Tournament nodes and their edges.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43434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BEDE8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46520" y="44622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heavy simplification?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46520" y="4773168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~500 matches, a full heterograph would overfit. The Team–Match graph is the smallest structure that still carries shared-opponent signal — complexity is added later, with evidence.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430000" y="63825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GNN prototype — architecture &amp; caveat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Team↔Match HeteroData (+ optional team↔team rivalry edge)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Geometric · HeteroConv wrapping SAGEConv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Per-node-type input projection → hidden dim 32/64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message-passing layers · dropout 0.35–0.50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on Match-node embeddings · weighted CE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· early stopping on validation macro-F1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4526280"/>
            <a:ext cx="5852160" cy="1280160"/>
          </a:xfrm>
          <a:prstGeom prst="roundRect">
            <a:avLst>
              <a:gd name="adj" fmla="val 5714"/>
            </a:avLst>
          </a:prstGeom>
          <a:solidFill>
            <a:srgbClr val="EEF2F6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4645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passing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95604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hᵥ⁽ᵏ⁾ = σ( W⁽ᵏ⁾ · AGGREGATE( { hᵤ⁽ᵏ⁻¹⁾ : u ∈ N(v) } ) 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394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Loss:  L = −Σ Σ yᵢ,c log ŷᵢ,c   (3-class cross-entropy)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0" y="1685503"/>
            <a:ext cx="4937760" cy="1691640"/>
          </a:xfrm>
          <a:prstGeom prst="roundRect">
            <a:avLst>
              <a:gd name="adj" fmla="val 4324"/>
            </a:avLst>
          </a:prstGeom>
          <a:solidFill>
            <a:srgbClr val="EEF2F6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0372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Match-node feature variants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03720" y="219456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numeric only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numeric + text PCA-64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numeric + text PCA-64 + metadata / stage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675120" y="3611880"/>
            <a:ext cx="4937760" cy="2194560"/>
          </a:xfrm>
          <a:prstGeom prst="roundRect">
            <a:avLst>
              <a:gd name="adj" fmla="val 3333"/>
            </a:avLst>
          </a:prstGeom>
          <a:solidFill>
            <a:srgbClr val="FBEDE8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Transductive caveat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03720" y="4096512"/>
            <a:ext cx="4526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spans 1994–2022. Labels are masked, but future graph structure may still leak through message passing.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GNN results are exploratory, not the final leakage-safe benchmark.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430000" y="63825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Baselines, model families, and metrics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74720" cy="41148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3474720" cy="5029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configurations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31546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class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Stage-only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Text-meta-only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form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history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numeric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+ text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graph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+ text + graph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51960" y="1645920"/>
            <a:ext cx="3474720" cy="41148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51960" y="1645920"/>
            <a:ext cx="347472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16459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families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34840" y="2331720"/>
            <a:ext cx="31546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1645920"/>
            <a:ext cx="3474720" cy="41148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55280" y="1645920"/>
            <a:ext cx="3474720" cy="5029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6459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138160" y="2331720"/>
            <a:ext cx="31546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 (primary)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recall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F1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loss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0" y="63825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Macro-F1 across the strongest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680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/sessions/eager-inspiring-thompson/mnt/outputs/figs/fig_macrof1_comparis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783080"/>
            <a:ext cx="7406640" cy="3886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03920" y="1691640"/>
            <a:ext cx="3108960" cy="1965960"/>
          </a:xfrm>
          <a:prstGeom prst="roundRect">
            <a:avLst>
              <a:gd name="adj" fmla="val 3721"/>
            </a:avLst>
          </a:prstGeom>
          <a:solidFill>
            <a:srgbClr val="EEF2F6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BY VALIDATION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0" y="21031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ranking_compact_rf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0" y="2514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0.565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8686800" y="31546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macro-F1 · also best val draw F1 (0.40)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503920" y="3840480"/>
            <a:ext cx="3108960" cy="2057400"/>
          </a:xfrm>
          <a:prstGeom prst="roundRect">
            <a:avLst>
              <a:gd name="adj" fmla="val 3556"/>
            </a:avLst>
          </a:prstGeom>
          <a:solidFill>
            <a:srgbClr val="EEF2F6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68680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ON TEST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86800" y="42519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numeric_text_rf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86800" y="4663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0.554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8686800" y="5303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macro-F1 · best test draw F1 (0.46)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430000" y="63825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Headline comparison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84048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mF1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mF1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draw 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ranking_compact_rf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numeric_text_rf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+ text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combined_numeric_rf_safe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gnn_team_match_numeric_text_meta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 + text + meta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gnn_team_match_numeric_text_small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+ text PCA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i="1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majority baseline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76072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EEF2F6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576072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headline models.  </a:t>
            </a:r>
            <a:r>
              <a:rPr lang="en-US" sz="12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ranking_compact_rf is the validation pick; numeric_text_rf is the best hybrid-text model on test.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17920" y="576072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BEDE8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0" y="576072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GNNs competitive, not better.  </a:t>
            </a:r>
            <a:r>
              <a:rPr lang="en-US" sz="12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GNN val mF1 (0.520) trails both Random Forests.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30000" y="411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experiments actually show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109728" cy="18745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helps — when fused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40487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numeric_text_rf reaches the best test macro-F1 (0.554) and draw F1 (0.462). Leakage-safe pre-match text adds real value.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26480" y="1691640"/>
            <a:ext cx="109728" cy="18745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8745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Text-only is weak overall…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240487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…but oddly good at draws on test — text seems to encode match closeness and uncertainty.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794760"/>
            <a:ext cx="109728" cy="1874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9776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Trees dominate small data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450799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beats boosting and linear models; the task has nonlinear interactions linear models can't capture.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37947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3794760"/>
            <a:ext cx="109728" cy="1874520"/>
          </a:xfrm>
          <a:prstGeom prst="rect">
            <a:avLst/>
          </a:prstGeom>
          <a:solidFill>
            <a:srgbClr val="5A6B7B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9776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graph features fail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46520" y="450799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and centrality barely beat the majority baseline — hand-crafted structure isn't enough.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0" y="63825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GNN did not beat the baselines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8521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/sessions/eager-inspiring-thompson/mnt/outputs/figs/fig_draw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442241"/>
            <a:ext cx="5522976" cy="25678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576072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stay hard for every model — the GNN does not solve them.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675120" y="1737360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5"/>
          <p:cNvSpPr/>
          <p:nvPr/>
        </p:nvSpPr>
        <p:spPr>
          <a:xfrm>
            <a:off x="667512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178040" y="17007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178040" y="203911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matches — RF is more stable than a GNN learning projections, message passing, and fusion.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675120" y="279806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9"/>
          <p:cNvSpPr/>
          <p:nvPr/>
        </p:nvSpPr>
        <p:spPr>
          <a:xfrm>
            <a:off x="667512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178040" y="27614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too simple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178040" y="309981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Team↔Match adds little over ranking/form; one Team node conflates Brazil-1994 with Brazil-2022.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675120" y="3858768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3"/>
          <p:cNvSpPr/>
          <p:nvPr/>
        </p:nvSpPr>
        <p:spPr>
          <a:xfrm>
            <a:off x="667512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178040" y="3822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fused worse in GNN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178040" y="41605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compression, zero-vector missing text, and Guardian bias hurt the neural text branch.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675120" y="4919472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0" name="Text 17"/>
          <p:cNvSpPr/>
          <p:nvPr/>
        </p:nvSpPr>
        <p:spPr>
          <a:xfrm>
            <a:off x="6675120" y="4919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178040" y="4882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178040" y="5221224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tournament per split — small macro-F1 gaps are noisy; smaller GNNs generalized better.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1430000" y="63825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working, leakage-safe hybrid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24395F"/>
          </a:solidFill>
          <a:ln w="1524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938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— validation-selected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ranking_compact_rf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0" y="178308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macro-F1 0.565 · FIFA rankings are very strong predictors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24395F"/>
          </a:solidFill>
          <a:ln w="1524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16382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HYBRID-TEXT MODEL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numeric_text_rf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0" y="301752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macro-F1 0.554 · leakage-safe pre-match text adds value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24395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39826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— graph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709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Team–Match GNN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0" y="425196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works, but does not beat strong RF baselines on 500 matches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675417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prediction remains the single hardest part of the task.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0" y="63825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F7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graph branch should go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TeamTournament–Match graph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95351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Highest-priority fix: Brazil_1994 ≠ Brazil_2022. Use the 248 TeamTournament nodes already in the graph.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1691640"/>
            <a:ext cx="34747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92024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80560" y="24688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Time-aware / inductive benchmark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480560" y="295351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edges earlier than each match — removes structural leakage.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55280" y="1691640"/>
            <a:ext cx="34747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83880" y="1920240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183880" y="24688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GNNs + variance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183880" y="295351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Multi-seed reporting; MLP sanity check to test if message passing helps at all.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4747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5A6B7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77240" y="45720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text fusion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77240" y="505663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raw 384-d vs PCA; learned missing-text embedding instead of zeros.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51960" y="3794760"/>
            <a:ext cx="34747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402336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480560" y="45720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draws as uncertainty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480560" y="505663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(draw vs non-draw), focal loss, probability calibration, threshold tuning.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55280" y="3794760"/>
            <a:ext cx="34747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83880" y="402336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818388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183880" y="45720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Ablate node types gradually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183880" y="505663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Tournament → Stadium → Referee only with evidence, to avoid overfitting.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430000" y="63825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1765</Words>
  <Application>Microsoft Office PowerPoint</Application>
  <PresentationFormat>Широкоэкранный</PresentationFormat>
  <Paragraphs>339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Arial</vt:lpstr>
      <vt:lpstr>Calibri</vt:lpstr>
      <vt:lpstr>Consolas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Graph-Text Architecture for Sports Match Outcome Prediction</dc:title>
  <dc:subject>PptxGenJS Presentation</dc:subject>
  <dc:creator>Alexey Birukoff</dc:creator>
  <cp:lastModifiedBy>User</cp:lastModifiedBy>
  <cp:revision>3</cp:revision>
  <dcterms:created xsi:type="dcterms:W3CDTF">2026-06-09T13:14:58Z</dcterms:created>
  <dcterms:modified xsi:type="dcterms:W3CDTF">2026-06-09T19:13:18Z</dcterms:modified>
</cp:coreProperties>
</file>